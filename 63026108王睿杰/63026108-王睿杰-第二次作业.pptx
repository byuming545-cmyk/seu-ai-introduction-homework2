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AI 辅助形式化证明 · 第二次作业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7498079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欧拉幂和猜想的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机器反证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61488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4A6E"/>
                </a:solidFill>
                <a:latin typeface="Microsoft YaHei"/>
                <a:ea typeface="Microsoft YaHei"/>
                <a:cs typeface="Microsoft YaHei"/>
              </a:rPr>
              <a:t>AI 生成候选证明，Lean 4 独立验收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27248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1769 年提出　·　1966 年被反例推翻　·　本次由机器复核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22191"/>
            <a:ext cx="10545775" cy="1664208"/>
          </a:xfrm>
          <a:prstGeom prst="roundRect">
            <a:avLst>
              <a:gd name="adj" fmla="val 4500"/>
            </a:avLst>
          </a:prstGeom>
          <a:solidFill>
            <a:srgbClr val="F2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404164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主命题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297680"/>
            <a:ext cx="57150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k 个正整数的 n 次幂之和若等于另一个 n 次幂，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则 k ≥ n（n ≥ 3）。本实验证明它在 n = 5 时为假。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4041648"/>
            <a:ext cx="4023360" cy="32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27</a:t>
            </a:r>
            <a:r>
              <a:rPr sz="927" b="1" i="0" baseline="3000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600" b="1" i="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 + 84</a:t>
            </a:r>
            <a:r>
              <a:rPr sz="927" b="1" i="0" baseline="3000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600" b="1" i="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 + 110</a:t>
            </a:r>
            <a:r>
              <a:rPr sz="927" b="1" i="0" baseline="3000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600" b="1" i="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 + 133</a:t>
            </a:r>
            <a:r>
              <a:rPr sz="927" b="1" i="0" baseline="30000">
                <a:solidFill>
                  <a:srgbClr val="17202E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1696" y="4462272"/>
            <a:ext cx="4023360" cy="32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5541F"/>
                </a:solidFill>
                <a:latin typeface="Consolas"/>
                <a:ea typeface="Consolas"/>
                <a:cs typeface="Consolas"/>
              </a:rPr>
              <a:t>= 144</a:t>
            </a:r>
            <a:r>
              <a:rPr sz="927" b="1" i="0" baseline="30000">
                <a:solidFill>
                  <a:srgbClr val="B5541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491032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Lander–Parkin，1966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742432"/>
            <a:ext cx="2014057" cy="384048"/>
          </a:xfrm>
          <a:prstGeom prst="roundRect">
            <a:avLst>
              <a:gd name="adj" fmla="val 20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824728"/>
            <a:ext cx="201405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4A6E"/>
                </a:solidFill>
                <a:latin typeface="Microsoft YaHei"/>
                <a:ea typeface="Microsoft YaHei"/>
                <a:cs typeface="Microsoft YaHei"/>
              </a:rPr>
              <a:t>S1 准备环境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5889" y="5742432"/>
            <a:ext cx="2014057" cy="384048"/>
          </a:xfrm>
          <a:prstGeom prst="roundRect">
            <a:avLst>
              <a:gd name="adj" fmla="val 20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55889" y="5824728"/>
            <a:ext cx="201405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4A6E"/>
                </a:solidFill>
                <a:latin typeface="Microsoft YaHei"/>
                <a:ea typeface="Microsoft YaHei"/>
                <a:cs typeface="Microsoft YaHei"/>
              </a:rPr>
              <a:t>S2 向 AI 提问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8818" y="5742432"/>
            <a:ext cx="2014057" cy="384048"/>
          </a:xfrm>
          <a:prstGeom prst="roundRect">
            <a:avLst>
              <a:gd name="adj" fmla="val 20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88818" y="5824728"/>
            <a:ext cx="201405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4A6E"/>
                </a:solidFill>
                <a:latin typeface="Microsoft YaHei"/>
                <a:ea typeface="Microsoft YaHei"/>
                <a:cs typeface="Microsoft YaHei"/>
              </a:rPr>
              <a:t>S3 交给 Lean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1748" y="5742432"/>
            <a:ext cx="2014057" cy="384048"/>
          </a:xfrm>
          <a:prstGeom prst="roundRect">
            <a:avLst>
              <a:gd name="adj" fmla="val 20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1748" y="5824728"/>
            <a:ext cx="201405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4A6E"/>
                </a:solidFill>
                <a:latin typeface="Microsoft YaHei"/>
                <a:ea typeface="Microsoft YaHei"/>
                <a:cs typeface="Microsoft YaHei"/>
              </a:rPr>
              <a:t>S4 查看验收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4677" y="5742432"/>
            <a:ext cx="2014057" cy="384048"/>
          </a:xfrm>
          <a:prstGeom prst="roundRect">
            <a:avLst>
              <a:gd name="adj" fmla="val 20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54677" y="5824728"/>
            <a:ext cx="201405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4A6E"/>
                </a:solidFill>
                <a:latin typeface="Microsoft YaHei"/>
                <a:ea typeface="Microsoft YaHei"/>
                <a:cs typeface="Microsoft YaHei"/>
              </a:rPr>
              <a:t>S5 按需修正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dirty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63026108-</a:t>
            </a:r>
            <a:r>
              <a:rPr lang="zh-CN" altLang="en-US" sz="850" dirty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王睿杰</a:t>
            </a:r>
            <a:r>
              <a:rPr sz="850" b="0" i="0" dirty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　·　2026-10-21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通过标准：无错误 + 公理合规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步骤 1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先把 Lean 跑起来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17904"/>
            <a:ext cx="1143000" cy="0"/>
          </a:xfrm>
          <a:prstGeom prst="line">
            <a:avLst/>
          </a:prstGeom>
          <a:ln w="31750">
            <a:solidFill>
              <a:srgbClr val="B5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05695" y="38404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EDE7D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074920" cy="324612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5568" y="205740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B5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本次采用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04872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在线 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88920"/>
            <a:ext cx="44897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5541F"/>
                </a:solidFill>
                <a:latin typeface="Consolas"/>
                <a:ea typeface="Consolas"/>
                <a:cs typeface="Consolas"/>
              </a:rPr>
              <a:t>live.lean-lang.org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09544"/>
            <a:ext cx="4489704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打开后把项目下拉框切到 Latest Mathlib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左侧写代码，右侧消息区看反馈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无需下载，适合快速验证一份证明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缺点：断网即不可用，无法批量调试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074920" cy="3246120"/>
          </a:xfrm>
          <a:prstGeom prst="roundRect">
            <a:avLst>
              <a:gd name="adj" fmla="val 35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205740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DE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可选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04872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本地 VS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97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4A6E"/>
                </a:solidFill>
                <a:latin typeface="Consolas"/>
                <a:ea typeface="Consolas"/>
                <a:cs typeface="Consolas"/>
              </a:rPr>
              <a:t>lake env lean Proof.lean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9544"/>
            <a:ext cx="4489704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先装 elan，再建项目、拉 Mathlib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lake exe cache get 首次约数 GiB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好处：可离线、可反复调试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· 本次未采用，因为时间成本高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58384"/>
            <a:ext cx="10545775" cy="65836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22976"/>
            <a:ext cx="999713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两条路验证的是同一份代码。本次选在线版：Lean 4 + Latest Mathlib，整段粘贴后数秒内出结果。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辅助形式化证明 · 欧拉幂和猜想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3825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步骤 2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让 AI 生成候选证明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17904"/>
            <a:ext cx="1143000" cy="0"/>
          </a:xfrm>
          <a:prstGeom prst="line">
            <a:avLst/>
          </a:prstGeom>
          <a:ln w="31750">
            <a:solidFill>
              <a:srgbClr val="B5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05695" y="38404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EDE7D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把数学题目说清楚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并把定理声明原样钉死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71216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一段数学解释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加一份完整可粘贴的 Lean 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四道硬约束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61104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— 禁止 sorry、admit、自定义 axiom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0857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— 禁止 native_decide 之类额外信任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5604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— 必须能在在线版直接跑通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— 末尾必须打印公理依赖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6048" y="1737360"/>
            <a:ext cx="6412687" cy="4096512"/>
          </a:xfrm>
          <a:prstGeom prst="roundRect">
            <a:avLst>
              <a:gd name="adj" fmla="val 2800"/>
            </a:avLst>
          </a:prstGeom>
          <a:solidFill>
            <a:srgbClr val="F2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188366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5541F"/>
                </a:solidFill>
                <a:latin typeface="Consolas"/>
                <a:ea typeface="Consolas"/>
                <a:cs typeface="Consolas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883664"/>
            <a:ext cx="259049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整段复制给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176272"/>
            <a:ext cx="5900623" cy="3520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请证明：欧拉幂和猜想在 n = 5 时是假的。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rgbClr val="3E455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背景：欧拉 1769 年猜想，对任意 n ≥ 3，若 k 个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正整数的 n 次幂之和等于另一个正整数的 n 次幂，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则必有 k ≥ n。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rgbClr val="3E455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要求：先给 3–5 行数学解释，再给完整 Lean 4 代码。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rgbClr val="3E455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说明：以 import Mathlib 开头，声明固定为：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rgbClr val="3E455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C4A6E"/>
                </a:solidFill>
                <a:latin typeface="Consolas"/>
                <a:ea typeface="Microsoft YaHei"/>
                <a:cs typeface="Microsoft YaHei"/>
              </a:rPr>
              <a:t>def EulerConjectureInstanceN5 : Prop :=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C4A6E"/>
                </a:solidFill>
                <a:latin typeface="Consolas"/>
                <a:ea typeface="Microsoft YaHei"/>
                <a:cs typeface="Microsoft YaHei"/>
              </a:rPr>
              <a:t>  ∀ a b c d e : ℕ, 0 &lt; a → 0 &lt; b → 0 &lt; c 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C4A6E"/>
                </a:solidFill>
                <a:latin typeface="Consolas"/>
                <a:ea typeface="Microsoft YaHei"/>
                <a:cs typeface="Microsoft YaHei"/>
              </a:rPr>
              <a:t>    0 &lt; d → 0 &lt; e 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C4A6E"/>
                </a:solidFill>
                <a:latin typeface="Consolas"/>
                <a:ea typeface="Microsoft YaHei"/>
                <a:cs typeface="Microsoft YaHei"/>
              </a:rPr>
              <a:t>    a ^ 5 + b ^ 5 + c ^ 5 + d ^ 5 ≠ e ^ 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840" b="0" i="0">
              <a:solidFill>
                <a:srgbClr val="2C4A6E"/>
              </a:solidFill>
              <a:latin typeface="Consolas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C4A6E"/>
                </a:solidFill>
                <a:latin typeface="Consolas"/>
                <a:ea typeface="Microsoft YaHei"/>
                <a:cs typeface="Microsoft YaHei"/>
              </a:rPr>
              <a:t>theorem euler_conjecture_instance_false 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C4A6E"/>
                </a:solidFill>
                <a:latin typeface="Consolas"/>
                <a:ea typeface="Microsoft YaHei"/>
                <a:cs typeface="Microsoft YaHei"/>
              </a:rPr>
              <a:t>    ¬ EulerConjectureInstanceN5 := by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840" b="0" i="0">
              <a:solidFill>
                <a:srgbClr val="2C4A6E"/>
              </a:solidFill>
              <a:latin typeface="Consolas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约束：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1. 不得用 sorry、admit，不得自行加 axiom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2. 不得用 native_decide（会引入额外信任）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3. 必须能在 live.lean-lang.org 直接整段跑通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4. 末尾加 #print axioms euler_conjecture_instance_false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辅助形式化证明 · 欧拉幂和猜想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8575" y="63825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步骤 3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把证明交给 Lean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17904"/>
            <a:ext cx="1143000" cy="0"/>
          </a:xfrm>
          <a:prstGeom prst="line">
            <a:avLst/>
          </a:prstGeom>
          <a:ln w="31750">
            <a:solidFill>
              <a:srgbClr val="B5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05695" y="38404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EDE7D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复制 AI 给出的候选证明，整段替换在线编辑器里的内容，等待自动检查。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48256"/>
            <a:ext cx="6967728" cy="3611880"/>
          </a:xfrm>
          <a:prstGeom prst="roundRect">
            <a:avLst>
              <a:gd name="adj" fmla="val 3000"/>
            </a:avLst>
          </a:prstGeom>
          <a:solidFill>
            <a:srgbClr val="1D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2286000"/>
            <a:ext cx="6492240" cy="3136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0B07A"/>
                </a:solidFill>
                <a:latin typeface="Consolas"/>
                <a:ea typeface="Microsoft YaHei"/>
                <a:cs typeface="Microsoft YaHei"/>
              </a:rPr>
              <a:t>import Mathlib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19" b="0" i="0">
              <a:solidFill>
                <a:srgbClr val="E0B07A"/>
              </a:solidFill>
              <a:latin typeface="Consolas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theorem four_fifths_eq_fifth 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  (27 : ℕ) ^ 5 + 84 ^ 5 + 110 ^ 5 + 133 ^ 5 = 144 ^ 5 := by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decide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19" b="0" i="0">
              <a:solidFill>
                <a:srgbClr val="E7E4DC"/>
              </a:solidFill>
              <a:latin typeface="Consolas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0B07A"/>
                </a:solidFill>
                <a:latin typeface="Consolas"/>
                <a:ea typeface="Microsoft YaHei"/>
                <a:cs typeface="Microsoft YaHei"/>
              </a:rPr>
              <a:t>def EulerConjectureInstanceN5 : Prop :=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∀ a b c d e : ℕ, 0 &lt; a → 0 &lt; b → 0 &lt; c → 0 &lt; d → 0 &lt; e 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  a ^ 5 + b ^ 5 + c ^ 5 + d ^ 5 ≠ e ^ 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19" b="0" i="0">
              <a:solidFill>
                <a:srgbClr val="E7E4DC"/>
              </a:solidFill>
              <a:latin typeface="Consolas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theorem euler_conjecture_instance_false : ¬ EulerConjectureInstanceN5 := by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intro 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3AB8D"/>
                </a:solidFill>
                <a:latin typeface="Consolas"/>
                <a:ea typeface="Microsoft YaHei"/>
                <a:cs typeface="Microsoft YaHei"/>
              </a:rPr>
              <a:t>  have key := h 27 84 110 133 144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  (by decide) (by decide) (by decide) (by decide) (by decide)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exact key four_fifths_eq_fifth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919" b="0" i="0">
              <a:solidFill>
                <a:srgbClr val="E7E4DC"/>
              </a:solidFill>
              <a:latin typeface="Consolas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0B07A"/>
                </a:solidFill>
                <a:latin typeface="Consolas"/>
                <a:ea typeface="Microsoft YaHei"/>
                <a:cs typeface="Microsoft YaHei"/>
              </a:rPr>
              <a:t>#print axioms four_fifths_eq_fifth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E0B07A"/>
                </a:solidFill>
                <a:latin typeface="Consolas"/>
                <a:ea typeface="Microsoft YaHei"/>
                <a:cs typeface="Microsoft YaHei"/>
              </a:rPr>
              <a:t>#print axioms euler_conjecture_instance_false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6" y="2048256"/>
            <a:ext cx="31939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这段代码在做什么</a:t>
            </a:r>
          </a:p>
        </p:txBody>
      </p:sp>
      <p:sp>
        <p:nvSpPr>
          <p:cNvPr id="10" name="Oval 9"/>
          <p:cNvSpPr/>
          <p:nvPr/>
        </p:nvSpPr>
        <p:spPr>
          <a:xfrm>
            <a:off x="8174736" y="2414016"/>
            <a:ext cx="274320" cy="274320"/>
          </a:xfrm>
          <a:prstGeom prst="ellipse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377440"/>
            <a:ext cx="27916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先立等式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651760"/>
            <a:ext cx="2791663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four_fifths_eq_fifth 交给 decide，直接把四个五次幂算出来。</a:t>
            </a:r>
          </a:p>
        </p:txBody>
      </p:sp>
      <p:sp>
        <p:nvSpPr>
          <p:cNvPr id="13" name="Oval 12"/>
          <p:cNvSpPr/>
          <p:nvPr/>
        </p:nvSpPr>
        <p:spPr>
          <a:xfrm>
            <a:off x="8174736" y="3474720"/>
            <a:ext cx="274320" cy="274320"/>
          </a:xfrm>
          <a:prstGeom prst="ellipse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438144"/>
            <a:ext cx="27916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再落命题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712464"/>
            <a:ext cx="2791663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把猜想在 n = 5、k = 4 处的断言写成 Prop，一个特例就够。</a:t>
            </a:r>
          </a:p>
        </p:txBody>
      </p:sp>
      <p:sp>
        <p:nvSpPr>
          <p:cNvPr id="16" name="Oval 15"/>
          <p:cNvSpPr/>
          <p:nvPr/>
        </p:nvSpPr>
        <p:spPr>
          <a:xfrm>
            <a:off x="8174736" y="4535424"/>
            <a:ext cx="274320" cy="274320"/>
          </a:xfrm>
          <a:prstGeom prst="ellipse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498848"/>
            <a:ext cx="27916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收口于矛盾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773168"/>
            <a:ext cx="2791663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反例一代入，等式与「不相等」相撞，猜想被推翻。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15584"/>
            <a:ext cx="6967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面板为版面精简了注释；代码本身可直接运行，完整版见 EulerSumOfPowers.lean。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辅助形式化证明 · 欧拉幂和猜想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575" y="63825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步骤 4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查看验证结果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17904"/>
            <a:ext cx="1143000" cy="0"/>
          </a:xfrm>
          <a:prstGeom prst="line">
            <a:avLst/>
          </a:prstGeom>
          <a:ln w="31750">
            <a:solidFill>
              <a:srgbClr val="B5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05695" y="38404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EDE7D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验收清单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39696"/>
            <a:ext cx="310896" cy="310896"/>
          </a:xfrm>
          <a:prstGeom prst="ellipse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命题与原题一致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14015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n = 5、k = 4 是原猜想的一个特例；否定它即否定整个猜想，没有偷换强度。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10128"/>
            <a:ext cx="310896" cy="310896"/>
          </a:xfrm>
          <a:prstGeom prst="ellipse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735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检查结束且没有错误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84448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消息区无 error，编辑区无红色波浪线，lake 检查无输出。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80560"/>
            <a:ext cx="310896" cy="310896"/>
          </a:xfrm>
          <a:prstGeom prst="ellipse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4398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没有 sorryAx 或自定义公理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5488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本例更彻底：两条定理都不依赖任何公理，连经典公理都没用到。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37360"/>
            <a:ext cx="50136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机器输出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48256"/>
            <a:ext cx="5013655" cy="2157984"/>
          </a:xfrm>
          <a:prstGeom prst="roundRect">
            <a:avLst>
              <a:gd name="adj" fmla="val 3000"/>
            </a:avLst>
          </a:prstGeom>
          <a:solidFill>
            <a:srgbClr val="1D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4536" y="2212848"/>
            <a:ext cx="4574743" cy="1874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endParaRPr sz="819" b="1" i="0" dirty="0">
              <a:solidFill>
                <a:srgbClr val="8FC98F"/>
              </a:solidFill>
              <a:latin typeface="Consolas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4443984"/>
            <a:ext cx="50136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三条标准里任何一条不过，都算未通过——尤其「无 sorryAx」。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86400"/>
            <a:ext cx="10545775" cy="640080"/>
          </a:xfrm>
          <a:prstGeom prst="roundRect">
            <a:avLst>
              <a:gd name="adj" fmla="val 5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5605272"/>
            <a:ext cx="100337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一次通过：只用一个候选版本，未经历报错后修改；修正流程见下一页。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辅助形式化证明 · 欧拉幂和猜想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8575" y="63825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35C390A-DCC8-DE65-D600-21011B9BC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122" y="1912446"/>
            <a:ext cx="5242209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541F"/>
                </a:solidFill>
                <a:latin typeface="Microsoft YaHei"/>
                <a:ea typeface="Microsoft YaHei"/>
                <a:cs typeface="Microsoft YaHei"/>
              </a:rPr>
              <a:t>步骤 5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有报错时，反馈并修正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17904"/>
            <a:ext cx="1143000" cy="0"/>
          </a:xfrm>
          <a:prstGeom prst="line">
            <a:avLst/>
          </a:prstGeom>
          <a:ln w="31750">
            <a:solidFill>
              <a:srgbClr val="B5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05695" y="38404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EDE7D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本实验一次通过、未经历报错；按规范补一条「报错 → 修正」的闭环记录，证明流程可复现。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4A3F"/>
                </a:solidFill>
                <a:latin typeface="Microsoft YaHei"/>
                <a:ea typeface="Microsoft YaHei"/>
                <a:cs typeface="Microsoft YaHei"/>
              </a:rPr>
              <a:t>初版　·　把大数等式留给 sorry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95728"/>
            <a:ext cx="5074920" cy="1444752"/>
          </a:xfrm>
          <a:prstGeom prst="roundRect">
            <a:avLst>
              <a:gd name="adj" fmla="val 3000"/>
            </a:avLst>
          </a:prstGeom>
          <a:solidFill>
            <a:srgbClr val="1D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596896"/>
            <a:ext cx="4672583" cy="10424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theorem four_fifths_eq_fifth :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  (27 : ℕ) ^ 5 + … = 144 ^ 5 := by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B7F"/>
                </a:solidFill>
                <a:latin typeface="Consolas"/>
                <a:ea typeface="Microsoft YaHei"/>
                <a:cs typeface="Microsoft YaHei"/>
              </a:rPr>
              <a:t>  sorry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B7F"/>
                </a:solidFill>
                <a:latin typeface="Consolas"/>
                <a:ea typeface="Microsoft YaHei"/>
                <a:cs typeface="Microsoft YaHei"/>
              </a:rPr>
              <a:t>-- Lean: declaration uses 'sorry'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B7F"/>
                </a:solidFill>
                <a:latin typeface="Consolas"/>
                <a:ea typeface="Microsoft YaHei"/>
                <a:cs typeface="Microsoft YaHei"/>
              </a:rPr>
              <a:t>-- #print axioms … → [sorryAx, …]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10312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E8A5E"/>
                </a:solidFill>
                <a:latin typeface="Microsoft YaHei"/>
                <a:ea typeface="Microsoft YaHei"/>
                <a:cs typeface="Microsoft YaHei"/>
              </a:rPr>
              <a:t>修正　·　补上 decide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395728"/>
            <a:ext cx="5074920" cy="1444752"/>
          </a:xfrm>
          <a:prstGeom prst="roundRect">
            <a:avLst>
              <a:gd name="adj" fmla="val 3000"/>
            </a:avLst>
          </a:prstGeom>
          <a:solidFill>
            <a:srgbClr val="1D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596896"/>
            <a:ext cx="4672583" cy="10424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theorem four_fifths_eq_fifth :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7E4DC"/>
                </a:solidFill>
                <a:latin typeface="Consolas"/>
                <a:ea typeface="Microsoft YaHei"/>
                <a:cs typeface="Microsoft YaHei"/>
              </a:rPr>
              <a:t>    (27 : ℕ) ^ 5 + … = 144 ^ 5 := by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C98F"/>
                </a:solidFill>
                <a:latin typeface="Consolas"/>
                <a:ea typeface="Microsoft YaHei"/>
                <a:cs typeface="Microsoft YaHei"/>
              </a:rPr>
              <a:t>  decide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B8D"/>
                </a:solidFill>
                <a:latin typeface="Consolas"/>
                <a:ea typeface="Microsoft YaHei"/>
                <a:cs typeface="Microsoft YaHei"/>
              </a:rPr>
              <a:t>-- no errors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B8D"/>
                </a:solidFill>
                <a:latin typeface="Consolas"/>
                <a:ea typeface="Microsoft YaHei"/>
                <a:cs typeface="Microsoft YaHei"/>
              </a:rPr>
              <a:t>-- axioms: none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24528"/>
            <a:ext cx="3362858" cy="731520"/>
          </a:xfrm>
          <a:prstGeom prst="roundRect">
            <a:avLst>
              <a:gd name="adj" fmla="val 6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4352544"/>
            <a:ext cx="292394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Lean 报错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608576"/>
            <a:ext cx="29239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把完整代码与报错原文一起回传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4418" y="4224528"/>
            <a:ext cx="3362858" cy="731520"/>
          </a:xfrm>
          <a:prstGeom prst="roundRect">
            <a:avLst>
              <a:gd name="adj" fmla="val 6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3874" y="4352544"/>
            <a:ext cx="292394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AI 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3874" y="4608576"/>
            <a:ext cx="29239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命题不变，只改证明手段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5876" y="4224528"/>
            <a:ext cx="3362858" cy="731520"/>
          </a:xfrm>
          <a:prstGeom prst="roundRect">
            <a:avLst>
              <a:gd name="adj" fmla="val 6000"/>
            </a:avLst>
          </a:prstGeom>
          <a:solidFill>
            <a:srgbClr val="F7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5332" y="4352544"/>
            <a:ext cx="292394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02E"/>
                </a:solidFill>
                <a:latin typeface="Microsoft YaHei"/>
                <a:ea typeface="Microsoft YaHei"/>
                <a:cs typeface="Microsoft YaHei"/>
              </a:rPr>
              <a:t>再次检查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5332" y="4608576"/>
            <a:ext cx="29239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确认公理输出回到合规状态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75504"/>
            <a:ext cx="10545775" cy="6400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5303520"/>
            <a:ext cx="10033711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4553"/>
                </a:solidFill>
                <a:latin typeface="Microsoft YaHei"/>
                <a:ea typeface="Microsoft YaHei"/>
                <a:cs typeface="Microsoft YaHei"/>
              </a:rPr>
              <a:t>保存四样东西：首次代码、报错原文、修改内容、最终结果——这四样构成一次可复现的修正。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辅助形式化证明 · 欧拉幂和猜想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3825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826</Words>
  <Application>Microsoft Office PowerPoint</Application>
  <PresentationFormat>宽屏</PresentationFormat>
  <Paragraphs>157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欧拉幂和猜想的机器反证</dc:title>
  <dc:subject>AI 辅助形式化证明 · 第二次作业</dc:subject>
  <dc:creator>学号-姓名</dc:creator>
  <cp:keywords/>
  <dc:description>S1-S5：准备环境 / 向 AI 提问 / 交给 Lean / 查看验收 / 反馈修正</dc:description>
  <cp:lastModifiedBy>睿杰 王</cp:lastModifiedBy>
  <cp:revision>2</cp:revision>
  <dcterms:created xsi:type="dcterms:W3CDTF">2013-01-27T09:14:16Z</dcterms:created>
  <dcterms:modified xsi:type="dcterms:W3CDTF">2026-10-21T09:23:54Z</dcterms:modified>
  <cp:category/>
</cp:coreProperties>
</file>